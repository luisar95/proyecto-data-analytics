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2E9EF8E7-86C9-CD37-8D7E-8BD17CFEFCD9}">
          <p14:sldIdLst>
            <p14:sldId id="256"/>
            <p14:sldId id="257"/>
            <p14:sldId id="258"/>
          </p14:sldIdLst>
        </p14:section>
        <p14:section name="Hallazgos" id="{DA938AFA-9029-7448-397B-6AC13B79BE1C}">
          <p14:sldIdLst>
            <p14:sldId id="259"/>
            <p14:sldId id="260"/>
            <p14:sldId id="261"/>
          </p14:sldIdLst>
        </p14:section>
        <p14:section name="Acción" id="{DE938D18-9CC4-9283-4EA8-694A9432BD8B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22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Planteo el problema: MetroBus genera muchos datos pero no los usaba juntos. El proyecto los integra en un modelo en estrella y un cuadro de mando para responder tres preguntas: dónde falla el servicio, qué cuesta más y cómo debe evolucionar la flota.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Nueve tablas: seis dimensiones (conductor, depósito, línea, parada, tarifa y vehículo) y tres de hechos (viajes, incidencias y mantenimiento). La calidad era razonable: los problemas son pocos y deben coincidir con las entradas de tu Data Quality Log. Decisión de diseño: no tocar el origen, corregir en Power Query y DAX.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trabajo de las cuatro primeras fases y sus archivos. En Power BI: modelo en estrella con tablas de hechos y dimensiones, tabla de calendario propia, siete KPI como medidas DAX, cinco páginas con menú de navegación y segmentadores sincronizados por año y tipo de línea. Decisiones no obvias: el depósito se integra en vehículo y conductor para evitar un copo de nieve; la franja horaria es atributo del viaje, no de la fecha.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puntas son el 40 % de los viajes válidos. Puntualidad = salida con 5 minutos o menos de retraso; se excluyen 80 viajes con retraso -99. El escenario es una estimación. Por años no hay mejora: 75 % en 2022, 2023 y 2024. El gráfico de puntualidad por franja y la matriz de ocupación están en el dashboard (páginas 1 y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Coste total estimado: 4,80 M€ en tres años. «Otras» agrupa Servicio, Externo y Operacional (menos de 25.000 €). Es un coste estimado, no facturado. Las incidencias críticas son 328 (el 8 % del total) y causan el 58 % del coste. Gráfico y tabla están en la página 3 del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Emisiones medias de la flota ponderadas por km totales: 87.1 g/km (tarjeta de la página 4). La meta de 70 es un objetivo fijado en el dashboard. El coste total de mantenimiento por vehículo es similar en diésel y eléctrico (≈15 k€ en tres años), así que electrificar no se justifica por ahorro de mantenimiento. La estimación del 24 % supone que un eléctrico recorre los mismos km que el diésel al que sustituye. Visuales en la página 4 del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enlaza un hallazgo con una acción y con el KPI del dashboard que permite seguirla. Los valores «Hoy» son del periodo completo 2022-2024. En paradas: 4 paradas no accesibles concentran 5.012 salidas (el 10 % de los viajes); el mapa de la página 5 las muestra en rojo.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limitaciones no invalidan los hallazgos, pero acotan lo que se puede prometer: sabemos dónde y cuándo falla el servicio, no por qué; y sabemos qué cuesta el mantenimiento, no el ahorro económico de cambiar de flota. Además, la puntualidad es del 75 % en 2022, 2023 y 2024, así que no hay tendencia que explicar. Próximos pasos en orden lógico: explicar, predecir, automatizar y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51560"/>
            <a:ext cx="566928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64008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MetroBus Analytics · Proyecto final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33680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0" b="1" dirty="0" err="1">
                <a:solidFill>
                  <a:schemeClr val="bg1"/>
                </a:solidFill>
              </a:rPr>
              <a:t>MetroBus</a:t>
            </a:r>
            <a:endParaRPr lang="en-US" sz="8800" dirty="0"/>
          </a:p>
        </p:txBody>
      </p:sp>
      <p:sp>
        <p:nvSpPr>
          <p:cNvPr id="4" name="Pregunta"/>
          <p:cNvSpPr txBox="1"/>
          <p:nvPr/>
        </p:nvSpPr>
        <p:spPr>
          <a:xfrm>
            <a:off x="7223760" y="320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 err="1">
                <a:solidFill>
                  <a:schemeClr val="accent5"/>
                </a:solidFill>
              </a:rPr>
              <a:t>Problemas</a:t>
            </a:r>
            <a:r>
              <a:rPr lang="en-US" sz="2000" i="1" dirty="0">
                <a:solidFill>
                  <a:schemeClr val="accent5"/>
                </a:solidFill>
              </a:rPr>
              <a:t> </a:t>
            </a:r>
            <a:r>
              <a:rPr lang="en-US" sz="2000" i="1" dirty="0" err="1">
                <a:solidFill>
                  <a:schemeClr val="accent5"/>
                </a:solidFill>
              </a:rPr>
              <a:t>en</a:t>
            </a:r>
            <a:r>
              <a:rPr lang="en-US" sz="2000" i="1" dirty="0">
                <a:solidFill>
                  <a:schemeClr val="accent5"/>
                </a:solidFill>
              </a:rPr>
              <a:t> la </a:t>
            </a:r>
            <a:r>
              <a:rPr lang="en-US" sz="2000" i="1" dirty="0" err="1">
                <a:solidFill>
                  <a:schemeClr val="accent5"/>
                </a:solidFill>
              </a:rPr>
              <a:t>toma</a:t>
            </a:r>
            <a:r>
              <a:rPr lang="en-US" sz="2000" i="1" dirty="0">
                <a:solidFill>
                  <a:schemeClr val="accent5"/>
                </a:solidFill>
              </a:rPr>
              <a:t> de </a:t>
            </a:r>
            <a:r>
              <a:rPr lang="en-US" sz="2000" i="1" dirty="0" err="1">
                <a:solidFill>
                  <a:schemeClr val="accent5"/>
                </a:solidFill>
              </a:rPr>
              <a:t>decisiones</a:t>
            </a:r>
            <a:endParaRPr lang="en-US" sz="2000" dirty="0"/>
          </a:p>
        </p:txBody>
      </p:sp>
      <p:sp>
        <p:nvSpPr>
          <p:cNvPr id="5" name="Autora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Luisa Fernanda Rincón Durán</a:t>
            </a:r>
            <a:endParaRPr lang="en-US" sz="1400" dirty="0"/>
          </a:p>
        </p:txBody>
      </p:sp>
      <p:sp>
        <p:nvSpPr>
          <p:cNvPr id="6" name="Tarjeta problema 1"/>
          <p:cNvSpPr/>
          <p:nvPr/>
        </p:nvSpPr>
        <p:spPr>
          <a:xfrm>
            <a:off x="6949440" y="868680"/>
            <a:ext cx="4572000" cy="1554480"/>
          </a:xfrm>
          <a:prstGeom prst="roundRect">
            <a:avLst>
              <a:gd name="adj" fmla="val 705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7" name="Círculo 1"/>
          <p:cNvSpPr/>
          <p:nvPr/>
        </p:nvSpPr>
        <p:spPr>
          <a:xfrm>
            <a:off x="7223760" y="1143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72237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Problema 1 título"/>
          <p:cNvSpPr txBox="1"/>
          <p:nvPr/>
        </p:nvSpPr>
        <p:spPr>
          <a:xfrm>
            <a:off x="8031480" y="120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Informes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manuales</a:t>
            </a:r>
            <a:endParaRPr lang="en-US" sz="1800" dirty="0"/>
          </a:p>
        </p:txBody>
      </p:sp>
      <p:sp>
        <p:nvSpPr>
          <p:cNvPr id="11" name="Tarjeta problema 2"/>
          <p:cNvSpPr/>
          <p:nvPr/>
        </p:nvSpPr>
        <p:spPr>
          <a:xfrm>
            <a:off x="6949440" y="2651760"/>
            <a:ext cx="4572000" cy="1554480"/>
          </a:xfrm>
          <a:prstGeom prst="roundRect">
            <a:avLst>
              <a:gd name="adj" fmla="val 705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2" name="Círculo 2"/>
          <p:cNvSpPr/>
          <p:nvPr/>
        </p:nvSpPr>
        <p:spPr>
          <a:xfrm>
            <a:off x="7223760" y="2926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úmero 2"/>
          <p:cNvSpPr txBox="1"/>
          <p:nvPr/>
        </p:nvSpPr>
        <p:spPr>
          <a:xfrm>
            <a:off x="72237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Problema 2 título"/>
          <p:cNvSpPr txBox="1"/>
          <p:nvPr/>
        </p:nvSpPr>
        <p:spPr>
          <a:xfrm>
            <a:off x="8031480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Sin </a:t>
            </a:r>
            <a:r>
              <a:rPr lang="en-US" sz="1800" b="1" dirty="0" err="1">
                <a:solidFill>
                  <a:schemeClr val="bg1"/>
                </a:solidFill>
              </a:rPr>
              <a:t>indicadores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medibles</a:t>
            </a:r>
            <a:endParaRPr lang="en-US" sz="1800" dirty="0"/>
          </a:p>
        </p:txBody>
      </p:sp>
      <p:sp>
        <p:nvSpPr>
          <p:cNvPr id="15" name="Problema 2 texto"/>
          <p:cNvSpPr txBox="1"/>
          <p:nvPr/>
        </p:nvSpPr>
        <p:spPr>
          <a:xfrm>
            <a:off x="8001000" y="32461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arjeta problema 3"/>
          <p:cNvSpPr/>
          <p:nvPr/>
        </p:nvSpPr>
        <p:spPr>
          <a:xfrm>
            <a:off x="6949440" y="4434840"/>
            <a:ext cx="4572000" cy="1554480"/>
          </a:xfrm>
          <a:prstGeom prst="roundRect">
            <a:avLst>
              <a:gd name="adj" fmla="val 705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7" name="Círculo 3"/>
          <p:cNvSpPr/>
          <p:nvPr/>
        </p:nvSpPr>
        <p:spPr>
          <a:xfrm>
            <a:off x="7223760" y="4709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22376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Problema 3 título"/>
          <p:cNvSpPr txBox="1"/>
          <p:nvPr/>
        </p:nvSpPr>
        <p:spPr>
          <a:xfrm>
            <a:off x="8001000" y="4846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Decisiones a ciegas</a:t>
            </a:r>
            <a:endParaRPr lang="en-US" sz="1800" dirty="0"/>
          </a:p>
        </p:txBody>
      </p:sp>
      <p:sp>
        <p:nvSpPr>
          <p:cNvPr id="20" name="Problema 3 texto"/>
          <p:cNvSpPr txBox="1"/>
          <p:nvPr/>
        </p:nvSpPr>
        <p:spPr>
          <a:xfrm>
            <a:off x="8001000" y="5029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chemeClr val="tx2"/>
                </a:solidFill>
              </a:rPr>
              <a:t>Información</a:t>
            </a:r>
            <a:r>
              <a:rPr lang="en-US" sz="3400" b="1" dirty="0">
                <a:solidFill>
                  <a:schemeClr val="tx2"/>
                </a:solidFill>
              </a:rPr>
              <a:t> de </a:t>
            </a:r>
            <a:r>
              <a:rPr lang="en-US" sz="3400" b="1" dirty="0" err="1">
                <a:solidFill>
                  <a:schemeClr val="tx2"/>
                </a:solidFill>
              </a:rPr>
              <a:t>viajes</a:t>
            </a:r>
            <a:r>
              <a:rPr lang="en-US" sz="3400" b="1" dirty="0">
                <a:solidFill>
                  <a:schemeClr val="tx2"/>
                </a:solidFill>
              </a:rPr>
              <a:t> de 2022 a 2024</a:t>
            </a:r>
            <a:endParaRPr lang="en-US" sz="3400" dirty="0"/>
          </a:p>
        </p:txBody>
      </p:sp>
      <p:sp>
        <p:nvSpPr>
          <p:cNvPr id="3" name="Tarjeta dato 1"/>
          <p:cNvSpPr/>
          <p:nvPr/>
        </p:nvSpPr>
        <p:spPr>
          <a:xfrm>
            <a:off x="548640" y="150876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fra 1"/>
          <p:cNvSpPr txBox="1"/>
          <p:nvPr/>
        </p:nvSpPr>
        <p:spPr>
          <a:xfrm>
            <a:off x="731520" y="16184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50.000</a:t>
            </a:r>
            <a:endParaRPr lang="en-US" sz="3600" dirty="0"/>
          </a:p>
        </p:txBody>
      </p:sp>
      <p:sp>
        <p:nvSpPr>
          <p:cNvPr id="5" name="Etiqueta 1"/>
          <p:cNvSpPr txBox="1"/>
          <p:nvPr/>
        </p:nvSpPr>
        <p:spPr>
          <a:xfrm>
            <a:off x="731520" y="23500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viajes</a:t>
            </a:r>
            <a:endParaRPr lang="en-US" sz="1600" dirty="0"/>
          </a:p>
        </p:txBody>
      </p:sp>
      <p:sp>
        <p:nvSpPr>
          <p:cNvPr id="6" name="Tarjeta dato 2"/>
          <p:cNvSpPr/>
          <p:nvPr/>
        </p:nvSpPr>
        <p:spPr>
          <a:xfrm>
            <a:off x="3246120" y="150876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ifra 2"/>
          <p:cNvSpPr txBox="1"/>
          <p:nvPr/>
        </p:nvSpPr>
        <p:spPr>
          <a:xfrm>
            <a:off x="3429000" y="16184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4.000</a:t>
            </a:r>
            <a:endParaRPr lang="en-US" sz="3600" dirty="0"/>
          </a:p>
        </p:txBody>
      </p:sp>
      <p:sp>
        <p:nvSpPr>
          <p:cNvPr id="8" name="Etiqueta 2"/>
          <p:cNvSpPr txBox="1"/>
          <p:nvPr/>
        </p:nvSpPr>
        <p:spPr>
          <a:xfrm>
            <a:off x="3429000" y="23500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incidencias</a:t>
            </a:r>
            <a:endParaRPr lang="en-US" sz="1600" dirty="0"/>
          </a:p>
        </p:txBody>
      </p:sp>
      <p:sp>
        <p:nvSpPr>
          <p:cNvPr id="9" name="Tarjeta dato 3"/>
          <p:cNvSpPr/>
          <p:nvPr/>
        </p:nvSpPr>
        <p:spPr>
          <a:xfrm>
            <a:off x="548640" y="310896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fra 3"/>
          <p:cNvSpPr txBox="1"/>
          <p:nvPr/>
        </p:nvSpPr>
        <p:spPr>
          <a:xfrm>
            <a:off x="731520" y="32186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876</a:t>
            </a:r>
            <a:endParaRPr lang="en-US" sz="3600" dirty="0"/>
          </a:p>
        </p:txBody>
      </p:sp>
      <p:sp>
        <p:nvSpPr>
          <p:cNvPr id="11" name="Etiqueta 3"/>
          <p:cNvSpPr txBox="1"/>
          <p:nvPr/>
        </p:nvSpPr>
        <p:spPr>
          <a:xfrm>
            <a:off x="731520" y="39502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mantenimientos</a:t>
            </a:r>
            <a:endParaRPr lang="en-US" sz="1600" dirty="0"/>
          </a:p>
        </p:txBody>
      </p:sp>
      <p:sp>
        <p:nvSpPr>
          <p:cNvPr id="12" name="Tarjeta dato 4"/>
          <p:cNvSpPr/>
          <p:nvPr/>
        </p:nvSpPr>
        <p:spPr>
          <a:xfrm>
            <a:off x="3246120" y="310896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ifra 4"/>
          <p:cNvSpPr txBox="1"/>
          <p:nvPr/>
        </p:nvSpPr>
        <p:spPr>
          <a:xfrm>
            <a:off x="3429000" y="32186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</a:t>
            </a:r>
            <a:endParaRPr lang="en-US" sz="3600" dirty="0"/>
          </a:p>
        </p:txBody>
      </p:sp>
      <p:sp>
        <p:nvSpPr>
          <p:cNvPr id="14" name="Etiqueta 4"/>
          <p:cNvSpPr txBox="1"/>
          <p:nvPr/>
        </p:nvSpPr>
        <p:spPr>
          <a:xfrm>
            <a:off x="3429000" y="39502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vehículos</a:t>
            </a:r>
            <a:endParaRPr lang="en-US" sz="1600" dirty="0"/>
          </a:p>
        </p:txBody>
      </p:sp>
      <p:sp>
        <p:nvSpPr>
          <p:cNvPr id="15" name="Resto de dimensiones"/>
          <p:cNvSpPr txBox="1"/>
          <p:nvPr/>
        </p:nvSpPr>
        <p:spPr>
          <a:xfrm>
            <a:off x="548640" y="4800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líneas · 120 paradas · 30 conductores · 3 depósitos</a:t>
            </a:r>
            <a:endParaRPr lang="en-US" sz="1400" dirty="0"/>
          </a:p>
        </p:txBody>
      </p:sp>
      <p:sp>
        <p:nvSpPr>
          <p:cNvPr id="16" name="Periodo"/>
          <p:cNvSpPr txBox="1"/>
          <p:nvPr/>
        </p:nvSpPr>
        <p:spPr>
          <a:xfrm>
            <a:off x="548640" y="5166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Periodo: enero de 2022 a diciembre de 2024</a:t>
            </a:r>
            <a:endParaRPr lang="en-US" sz="1400" dirty="0"/>
          </a:p>
        </p:txBody>
      </p:sp>
      <p:sp>
        <p:nvSpPr>
          <p:cNvPr id="17" name="Subtítulo calidad"/>
          <p:cNvSpPr txBox="1"/>
          <p:nvPr/>
        </p:nvSpPr>
        <p:spPr>
          <a:xfrm>
            <a:off x="617220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Calidad </a:t>
            </a:r>
            <a:r>
              <a:rPr lang="en-US" sz="2000" b="1" dirty="0" err="1">
                <a:solidFill>
                  <a:schemeClr val="tx2"/>
                </a:solidFill>
              </a:rPr>
              <a:t>en</a:t>
            </a:r>
            <a:r>
              <a:rPr lang="en-US" sz="2000" b="1" dirty="0">
                <a:solidFill>
                  <a:schemeClr val="tx2"/>
                </a:solidFill>
              </a:rPr>
              <a:t> la </a:t>
            </a:r>
            <a:r>
              <a:rPr lang="en-US" sz="2000" b="1" dirty="0" err="1">
                <a:solidFill>
                  <a:schemeClr val="tx2"/>
                </a:solidFill>
              </a:rPr>
              <a:t>información</a:t>
            </a:r>
            <a:endParaRPr lang="en-US" sz="2000" dirty="0"/>
          </a:p>
        </p:txBody>
      </p:sp>
      <p:graphicFrame>
        <p:nvGraphicFramePr>
          <p:cNvPr id="18" name="Tabla cal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65960"/>
          <a:ext cx="5440680" cy="3377184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Filas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Tratamiento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Retraso de salida = −99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Excluido de puntualidad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Costes de mantenimiento negativos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Excluidos en las medidas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Días de la semana en mayúsculas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Unificados al cargar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Combustible mal escrito o vacío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Normalizado o «Sin dato»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Parada sin latitud válida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Fuera del mapa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Año de fabricación 2099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Señalado, sin uso en KPI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Nota calidad"/>
          <p:cNvSpPr txBox="1"/>
          <p:nvPr/>
        </p:nvSpPr>
        <p:spPr>
          <a:xfrm>
            <a:off x="6172200" y="54864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El dato de origen no se modifica: las correcciones están en Power Query y en las medidas.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tx2"/>
                </a:solidFill>
              </a:rPr>
              <a:t>Proceso</a:t>
            </a:r>
            <a:r>
              <a:rPr lang="en-US" sz="3400" b="1" dirty="0">
                <a:solidFill>
                  <a:schemeClr val="tx2"/>
                </a:solidFill>
              </a:rPr>
              <a:t> de </a:t>
            </a:r>
            <a:r>
              <a:rPr lang="en-US" sz="3400" b="1" dirty="0" err="1">
                <a:solidFill>
                  <a:schemeClr val="tx2"/>
                </a:solidFill>
              </a:rPr>
              <a:t>los</a:t>
            </a:r>
            <a:r>
              <a:rPr lang="en-US" sz="3400" b="1" dirty="0">
                <a:solidFill>
                  <a:schemeClr val="tx2"/>
                </a:solidFill>
              </a:rPr>
              <a:t> </a:t>
            </a:r>
            <a:r>
              <a:rPr lang="en-US" sz="3400" b="1" dirty="0" err="1">
                <a:solidFill>
                  <a:schemeClr val="tx2"/>
                </a:solidFill>
              </a:rPr>
              <a:t>datos</a:t>
            </a:r>
            <a:endParaRPr lang="en-US" sz="3400" dirty="0"/>
          </a:p>
        </p:txBody>
      </p:sp>
      <p:sp>
        <p:nvSpPr>
          <p:cNvPr id="3" name="Tarjeta fase 1"/>
          <p:cNvSpPr/>
          <p:nvPr/>
        </p:nvSpPr>
        <p:spPr>
          <a:xfrm>
            <a:off x="548640" y="1417320"/>
            <a:ext cx="26974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ase 1 etiqueta"/>
          <p:cNvSpPr txBox="1"/>
          <p:nvPr/>
        </p:nvSpPr>
        <p:spPr>
          <a:xfrm>
            <a:off x="73152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FASE 1</a:t>
            </a:r>
            <a:endParaRPr lang="en-US" sz="1200" dirty="0"/>
          </a:p>
        </p:txBody>
      </p:sp>
      <p:sp>
        <p:nvSpPr>
          <p:cNvPr id="5" name="Fase 1 nombre"/>
          <p:cNvSpPr txBox="1"/>
          <p:nvPr/>
        </p:nvSpPr>
        <p:spPr>
          <a:xfrm>
            <a:off x="731520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EDA con Python</a:t>
            </a:r>
            <a:endParaRPr lang="en-US" sz="1800" dirty="0"/>
          </a:p>
        </p:txBody>
      </p:sp>
      <p:sp>
        <p:nvSpPr>
          <p:cNvPr id="6" name="Fase 1 archivo"/>
          <p:cNvSpPr txBox="1"/>
          <p:nvPr/>
        </p:nvSpPr>
        <p:spPr>
          <a:xfrm>
            <a:off x="7315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01_eda.ipynb</a:t>
            </a:r>
            <a:endParaRPr lang="en-US" sz="1400" dirty="0"/>
          </a:p>
        </p:txBody>
      </p:sp>
      <p:sp>
        <p:nvSpPr>
          <p:cNvPr id="7" name="Fase 1 descripción"/>
          <p:cNvSpPr txBox="1"/>
          <p:nvPr/>
        </p:nvSpPr>
        <p:spPr>
          <a:xfrm>
            <a:off x="73152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Nulos, outliers y 4 gráficos de negocio sobre los 9 CSV.</a:t>
            </a:r>
            <a:endParaRPr lang="en-US" sz="1400" dirty="0"/>
          </a:p>
        </p:txBody>
      </p:sp>
      <p:sp>
        <p:nvSpPr>
          <p:cNvPr id="8" name="Tarjeta fase 2"/>
          <p:cNvSpPr/>
          <p:nvPr/>
        </p:nvSpPr>
        <p:spPr>
          <a:xfrm>
            <a:off x="3355848" y="1417320"/>
            <a:ext cx="26974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ase 2 etiqueta"/>
          <p:cNvSpPr txBox="1"/>
          <p:nvPr/>
        </p:nvSpPr>
        <p:spPr>
          <a:xfrm>
            <a:off x="3538728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FASE 2</a:t>
            </a:r>
            <a:endParaRPr lang="en-US" sz="1200" dirty="0"/>
          </a:p>
        </p:txBody>
      </p:sp>
      <p:sp>
        <p:nvSpPr>
          <p:cNvPr id="10" name="Fase 2 nombre"/>
          <p:cNvSpPr txBox="1"/>
          <p:nvPr/>
        </p:nvSpPr>
        <p:spPr>
          <a:xfrm>
            <a:off x="3538728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Modelo y SQL</a:t>
            </a:r>
            <a:endParaRPr lang="en-US" sz="1800" dirty="0"/>
          </a:p>
        </p:txBody>
      </p:sp>
      <p:sp>
        <p:nvSpPr>
          <p:cNvPr id="11" name="Fase 2 archivo"/>
          <p:cNvSpPr txBox="1"/>
          <p:nvPr/>
        </p:nvSpPr>
        <p:spPr>
          <a:xfrm>
            <a:off x="3538728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02_sql.sql</a:t>
            </a:r>
            <a:endParaRPr lang="en-US" sz="1400" dirty="0"/>
          </a:p>
        </p:txBody>
      </p:sp>
      <p:sp>
        <p:nvSpPr>
          <p:cNvPr id="12" name="Fase 2 descripción"/>
          <p:cNvSpPr txBox="1"/>
          <p:nvPr/>
        </p:nvSpPr>
        <p:spPr>
          <a:xfrm>
            <a:off x="3538728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DDL de 9 tablas con PK, FK y CHECK, y 9 consultas con JOIN, CTE y ventana.</a:t>
            </a:r>
            <a:endParaRPr lang="en-US" sz="1400" dirty="0"/>
          </a:p>
        </p:txBody>
      </p:sp>
      <p:sp>
        <p:nvSpPr>
          <p:cNvPr id="13" name="Tarjeta fase 3"/>
          <p:cNvSpPr/>
          <p:nvPr/>
        </p:nvSpPr>
        <p:spPr>
          <a:xfrm>
            <a:off x="6163056" y="1417320"/>
            <a:ext cx="26974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ase 3 etiqueta"/>
          <p:cNvSpPr txBox="1"/>
          <p:nvPr/>
        </p:nvSpPr>
        <p:spPr>
          <a:xfrm>
            <a:off x="6345936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FASE 3</a:t>
            </a:r>
            <a:endParaRPr lang="en-US" sz="1200" dirty="0"/>
          </a:p>
        </p:txBody>
      </p:sp>
      <p:sp>
        <p:nvSpPr>
          <p:cNvPr id="15" name="Fase 3 nombre"/>
          <p:cNvSpPr txBox="1"/>
          <p:nvPr/>
        </p:nvSpPr>
        <p:spPr>
          <a:xfrm>
            <a:off x="6345936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Gobierno del dato</a:t>
            </a:r>
            <a:endParaRPr lang="en-US" sz="1800" dirty="0"/>
          </a:p>
        </p:txBody>
      </p:sp>
      <p:sp>
        <p:nvSpPr>
          <p:cNvPr id="16" name="Fase 3 archivo"/>
          <p:cNvSpPr txBox="1"/>
          <p:nvPr/>
        </p:nvSpPr>
        <p:spPr>
          <a:xfrm>
            <a:off x="6345936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03_gobierno.md</a:t>
            </a:r>
            <a:endParaRPr lang="en-US" sz="1400" dirty="0"/>
          </a:p>
        </p:txBody>
      </p:sp>
      <p:sp>
        <p:nvSpPr>
          <p:cNvPr id="17" name="Fase 3 descripción"/>
          <p:cNvSpPr txBox="1"/>
          <p:nvPr/>
        </p:nvSpPr>
        <p:spPr>
          <a:xfrm>
            <a:off x="6345936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Diccionario</a:t>
            </a:r>
            <a:r>
              <a:rPr lang="en-US" sz="1400">
                <a:solidFill>
                  <a:schemeClr val="tx1"/>
                </a:solidFill>
              </a:rPr>
              <a:t>, 12 </a:t>
            </a:r>
            <a:r>
              <a:rPr lang="en-US" sz="1400" dirty="0">
                <a:solidFill>
                  <a:schemeClr val="tx1"/>
                </a:solidFill>
              </a:rPr>
              <a:t>decisiones de calidad y 7 KPI definidos.</a:t>
            </a:r>
            <a:endParaRPr lang="en-US" sz="1400" dirty="0"/>
          </a:p>
        </p:txBody>
      </p:sp>
      <p:sp>
        <p:nvSpPr>
          <p:cNvPr id="18" name="Tarjeta fase 4"/>
          <p:cNvSpPr/>
          <p:nvPr/>
        </p:nvSpPr>
        <p:spPr>
          <a:xfrm>
            <a:off x="8970264" y="1417320"/>
            <a:ext cx="26974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ase 4 etiqueta"/>
          <p:cNvSpPr txBox="1"/>
          <p:nvPr/>
        </p:nvSpPr>
        <p:spPr>
          <a:xfrm>
            <a:off x="9153144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FASE 4</a:t>
            </a:r>
            <a:endParaRPr lang="en-US" sz="1200" dirty="0"/>
          </a:p>
        </p:txBody>
      </p:sp>
      <p:sp>
        <p:nvSpPr>
          <p:cNvPr id="20" name="Fase 4 nombre"/>
          <p:cNvSpPr txBox="1"/>
          <p:nvPr/>
        </p:nvSpPr>
        <p:spPr>
          <a:xfrm>
            <a:off x="9153144" y="1847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Dashboard Power BI</a:t>
            </a:r>
            <a:endParaRPr lang="en-US" sz="1800" dirty="0"/>
          </a:p>
        </p:txBody>
      </p:sp>
      <p:sp>
        <p:nvSpPr>
          <p:cNvPr id="21" name="Fase 4 archivo"/>
          <p:cNvSpPr txBox="1"/>
          <p:nvPr/>
        </p:nvSpPr>
        <p:spPr>
          <a:xfrm>
            <a:off x="9153144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04_dashboard.pbix</a:t>
            </a:r>
            <a:endParaRPr lang="en-US" sz="1400" dirty="0"/>
          </a:p>
        </p:txBody>
      </p:sp>
      <p:sp>
        <p:nvSpPr>
          <p:cNvPr id="22" name="Fase 4 descripción"/>
          <p:cNvSpPr txBox="1"/>
          <p:nvPr/>
        </p:nvSpPr>
        <p:spPr>
          <a:xfrm>
            <a:off x="9153144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Modelo en estrella y 5 páginas con KPI, segmentadores y menú.</a:t>
            </a:r>
            <a:endParaRPr lang="en-US" sz="1400" dirty="0"/>
          </a:p>
        </p:txBody>
      </p:sp>
      <p:sp>
        <p:nvSpPr>
          <p:cNvPr id="23" name="Subtítulo Power BI"/>
          <p:cNvSpPr txBox="1"/>
          <p:nvPr/>
        </p:nvSpPr>
        <p:spPr>
          <a:xfrm>
            <a:off x="54864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2"/>
                </a:solidFill>
              </a:rPr>
              <a:t>Resumen</a:t>
            </a:r>
            <a:r>
              <a:rPr lang="en-US" sz="2000" b="1" dirty="0">
                <a:solidFill>
                  <a:schemeClr val="tx2"/>
                </a:solidFill>
              </a:rPr>
              <a:t> del </a:t>
            </a:r>
            <a:r>
              <a:rPr lang="en-US" sz="2000" b="1" dirty="0" err="1">
                <a:solidFill>
                  <a:schemeClr val="tx2"/>
                </a:solidFill>
              </a:rPr>
              <a:t>informe</a:t>
            </a:r>
            <a:endParaRPr lang="en-US" sz="2000" dirty="0"/>
          </a:p>
        </p:txBody>
      </p:sp>
      <p:sp>
        <p:nvSpPr>
          <p:cNvPr id="24" name="Dato Power BI 1"/>
          <p:cNvSpPr/>
          <p:nvPr/>
        </p:nvSpPr>
        <p:spPr>
          <a:xfrm>
            <a:off x="548640" y="4343400"/>
            <a:ext cx="2697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Cifra Power BI 1"/>
          <p:cNvSpPr txBox="1"/>
          <p:nvPr/>
        </p:nvSpPr>
        <p:spPr>
          <a:xfrm>
            <a:off x="640080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3000" dirty="0"/>
          </a:p>
        </p:txBody>
      </p:sp>
      <p:sp>
        <p:nvSpPr>
          <p:cNvPr id="26" name="Texto Power BI 1"/>
          <p:cNvSpPr txBox="1"/>
          <p:nvPr/>
        </p:nvSpPr>
        <p:spPr>
          <a:xfrm>
            <a:off x="1508760" y="4343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tablas: 7 dimensiones (con calendario) y 3 hechos</a:t>
            </a:r>
            <a:endParaRPr lang="en-US" sz="1400" dirty="0"/>
          </a:p>
        </p:txBody>
      </p:sp>
      <p:sp>
        <p:nvSpPr>
          <p:cNvPr id="27" name="Dato Power BI 2"/>
          <p:cNvSpPr/>
          <p:nvPr/>
        </p:nvSpPr>
        <p:spPr>
          <a:xfrm>
            <a:off x="3355848" y="4343400"/>
            <a:ext cx="2697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Cifra Power BI 2"/>
          <p:cNvSpPr txBox="1"/>
          <p:nvPr/>
        </p:nvSpPr>
        <p:spPr>
          <a:xfrm>
            <a:off x="3447288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3000" dirty="0"/>
          </a:p>
        </p:txBody>
      </p:sp>
      <p:sp>
        <p:nvSpPr>
          <p:cNvPr id="29" name="Texto Power BI 2"/>
          <p:cNvSpPr txBox="1"/>
          <p:nvPr/>
        </p:nvSpPr>
        <p:spPr>
          <a:xfrm>
            <a:off x="4315968" y="4343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relaciones, 2 de ellas inactivas</a:t>
            </a:r>
            <a:endParaRPr lang="en-US" sz="1400" dirty="0"/>
          </a:p>
        </p:txBody>
      </p:sp>
      <p:sp>
        <p:nvSpPr>
          <p:cNvPr id="30" name="Dato Power BI 3"/>
          <p:cNvSpPr/>
          <p:nvPr/>
        </p:nvSpPr>
        <p:spPr>
          <a:xfrm>
            <a:off x="6163056" y="4343400"/>
            <a:ext cx="2697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Cifra Power BI 3"/>
          <p:cNvSpPr txBox="1"/>
          <p:nvPr/>
        </p:nvSpPr>
        <p:spPr>
          <a:xfrm>
            <a:off x="6254496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3000" dirty="0"/>
          </a:p>
        </p:txBody>
      </p:sp>
      <p:sp>
        <p:nvSpPr>
          <p:cNvPr id="32" name="Texto Power BI 3"/>
          <p:cNvSpPr txBox="1"/>
          <p:nvPr/>
        </p:nvSpPr>
        <p:spPr>
          <a:xfrm>
            <a:off x="7123176" y="4343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KPI calculados con DAX</a:t>
            </a:r>
            <a:endParaRPr lang="en-US" sz="1400" dirty="0"/>
          </a:p>
        </p:txBody>
      </p:sp>
      <p:sp>
        <p:nvSpPr>
          <p:cNvPr id="33" name="Dato Power BI 4"/>
          <p:cNvSpPr/>
          <p:nvPr/>
        </p:nvSpPr>
        <p:spPr>
          <a:xfrm>
            <a:off x="8970264" y="4343400"/>
            <a:ext cx="2697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Cifra Power BI 4"/>
          <p:cNvSpPr txBox="1"/>
          <p:nvPr/>
        </p:nvSpPr>
        <p:spPr>
          <a:xfrm>
            <a:off x="9061704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3000" dirty="0"/>
          </a:p>
        </p:txBody>
      </p:sp>
      <p:sp>
        <p:nvSpPr>
          <p:cNvPr id="35" name="Texto Power BI 4"/>
          <p:cNvSpPr txBox="1"/>
          <p:nvPr/>
        </p:nvSpPr>
        <p:spPr>
          <a:xfrm>
            <a:off x="9930384" y="4343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páginas con menú y segmentadores</a:t>
            </a:r>
            <a:endParaRPr lang="en-US" sz="1400" dirty="0"/>
          </a:p>
        </p:txBody>
      </p:sp>
      <p:sp>
        <p:nvSpPr>
          <p:cNvPr id="36" name="Decisiones clave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Decisiones clave: el depósito va dentro de vehículo y conductor para mantener la estrella; la franja horaria queda fuera del calendario; −99 y costes negativos se tratan en las medidas, no en el origen.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Las horas punta concentran el retraso</a:t>
            </a:r>
            <a:endParaRPr lang="en-US" sz="3400" dirty="0"/>
          </a:p>
        </p:txBody>
      </p:sp>
      <p:sp>
        <p:nvSpPr>
          <p:cNvPr id="6" name="Fuente Power BI"/>
          <p:cNvSpPr txBox="1"/>
          <p:nvPr/>
        </p:nvSpPr>
        <p:spPr>
          <a:xfrm>
            <a:off x="548640" y="43159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Fuente: dashboard Power BI, </a:t>
            </a:r>
            <a:r>
              <a:rPr lang="en-US" sz="1200" i="1">
                <a:solidFill>
                  <a:schemeClr val="accent6"/>
                </a:solidFill>
              </a:rPr>
              <a:t>página </a:t>
            </a:r>
            <a:r>
              <a:rPr lang="en-US" sz="1200" i="1" dirty="0">
                <a:solidFill>
                  <a:schemeClr val="accent6"/>
                </a:solidFill>
              </a:rPr>
              <a:t>2.</a:t>
            </a:r>
            <a:endParaRPr lang="en-US" sz="1200" dirty="0"/>
          </a:p>
        </p:txBody>
      </p:sp>
      <p:sp>
        <p:nvSpPr>
          <p:cNvPr id="7" name="Tarjeta hallazgo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tiqueta hallazgo"/>
          <p:cNvSpPr txBox="1"/>
          <p:nvPr/>
        </p:nvSpPr>
        <p:spPr>
          <a:xfrm>
            <a:off x="77724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HALLAZGO</a:t>
            </a:r>
            <a:endParaRPr lang="en-US" sz="1200" dirty="0"/>
          </a:p>
        </p:txBody>
      </p:sp>
      <p:sp>
        <p:nvSpPr>
          <p:cNvPr id="9" name="Texto hallazgo"/>
          <p:cNvSpPr txBox="1"/>
          <p:nvPr/>
        </p:nvSpPr>
        <p:spPr>
          <a:xfrm>
            <a:off x="77724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En las dos puntas la puntualidad cae a 58 % y la ocupación sube a 71 %; el resto del día es 87 % y 28 %. Pasa igual en todas las líneas diurnas.</a:t>
            </a:r>
            <a:endParaRPr lang="en-US" sz="1500" dirty="0"/>
          </a:p>
        </p:txBody>
      </p:sp>
      <p:sp>
        <p:nvSpPr>
          <p:cNvPr id="10" name="Tarjeta acción"/>
          <p:cNvSpPr/>
          <p:nvPr/>
        </p:nvSpPr>
        <p:spPr>
          <a:xfrm>
            <a:off x="617220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Etiqueta acción"/>
          <p:cNvSpPr txBox="1"/>
          <p:nvPr/>
        </p:nvSpPr>
        <p:spPr>
          <a:xfrm>
            <a:off x="640080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ACCIÓN</a:t>
            </a:r>
            <a:endParaRPr lang="en-US" sz="1200" dirty="0"/>
          </a:p>
        </p:txBody>
      </p:sp>
      <p:sp>
        <p:nvSpPr>
          <p:cNvPr id="12" name="Texto acción"/>
          <p:cNvSpPr txBox="1"/>
          <p:nvPr/>
        </p:nvSpPr>
        <p:spPr>
          <a:xfrm>
            <a:off x="640080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Reforzar la frecuencia en las puntas. Si igualaran al resto del día, la puntualidad global pasaría de 75 % a 87 %.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764B30E-833D-99A0-7C38-47B5671E5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4"/>
          <a:stretch>
            <a:fillRect/>
          </a:stretch>
        </p:blipFill>
        <p:spPr>
          <a:xfrm>
            <a:off x="467359" y="1495823"/>
            <a:ext cx="6011267" cy="21239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BEA2B3C-B8F6-1095-1FE8-8CF10E9D1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563" y="1826271"/>
            <a:ext cx="5293478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El coste de incidencias vive en Seguridad</a:t>
            </a:r>
            <a:endParaRPr lang="en-US" sz="3400" dirty="0"/>
          </a:p>
        </p:txBody>
      </p:sp>
      <p:sp>
        <p:nvSpPr>
          <p:cNvPr id="4" name="Título ranking"/>
          <p:cNvSpPr txBox="1"/>
          <p:nvPr/>
        </p:nvSpPr>
        <p:spPr>
          <a:xfrm>
            <a:off x="6446520" y="12801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Ranking de líneas por coste cada 1.000 viajes</a:t>
            </a:r>
            <a:endParaRPr lang="en-US" sz="1400" dirty="0"/>
          </a:p>
        </p:txBody>
      </p:sp>
      <p:sp>
        <p:nvSpPr>
          <p:cNvPr id="5" name="Fuente Power BI"/>
          <p:cNvSpPr txBox="1"/>
          <p:nvPr/>
        </p:nvSpPr>
        <p:spPr>
          <a:xfrm>
            <a:off x="548640" y="43159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Fuente: dashboard Power BI, página 3.</a:t>
            </a:r>
            <a:endParaRPr lang="en-US" sz="1200" dirty="0"/>
          </a:p>
        </p:txBody>
      </p:sp>
      <p:sp>
        <p:nvSpPr>
          <p:cNvPr id="7" name="Tarjeta hallazgo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tiqueta hallazgo"/>
          <p:cNvSpPr txBox="1"/>
          <p:nvPr/>
        </p:nvSpPr>
        <p:spPr>
          <a:xfrm>
            <a:off x="77724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HALLAZGO</a:t>
            </a:r>
            <a:endParaRPr lang="en-US" sz="1200" dirty="0"/>
          </a:p>
        </p:txBody>
      </p:sp>
      <p:sp>
        <p:nvSpPr>
          <p:cNvPr id="9" name="Texto hallazgo"/>
          <p:cNvSpPr txBox="1"/>
          <p:nvPr/>
        </p:nvSpPr>
        <p:spPr>
          <a:xfrm>
            <a:off x="77724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Seguridad concentra el 77 % del coste con el 25 % de las incidencias; Alta y Crítica suman el 94 %. L6, N1 y L7 son las líneas más caras.</a:t>
            </a:r>
            <a:endParaRPr lang="en-US" sz="1500" dirty="0"/>
          </a:p>
        </p:txBody>
      </p:sp>
      <p:sp>
        <p:nvSpPr>
          <p:cNvPr id="10" name="Tarjeta acción"/>
          <p:cNvSpPr/>
          <p:nvPr/>
        </p:nvSpPr>
        <p:spPr>
          <a:xfrm>
            <a:off x="617220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Etiqueta acción"/>
          <p:cNvSpPr txBox="1"/>
          <p:nvPr/>
        </p:nvSpPr>
        <p:spPr>
          <a:xfrm>
            <a:off x="640080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ACCIÓN</a:t>
            </a:r>
            <a:endParaRPr lang="en-US" sz="1200" dirty="0"/>
          </a:p>
        </p:txBody>
      </p:sp>
      <p:sp>
        <p:nvSpPr>
          <p:cNvPr id="12" name="Texto acción"/>
          <p:cNvSpPr txBox="1"/>
          <p:nvPr/>
        </p:nvSpPr>
        <p:spPr>
          <a:xfrm>
            <a:off x="640080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Priorizar la prevención en seguridad, empezando por L6, N1 y L7. Todas las incidencias graves obligan a retirar el vehículo.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50AF40C-607B-41CC-F640-7FC697405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65" y="1636776"/>
            <a:ext cx="5310955" cy="262432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64C7B69-7BA3-0B04-8F53-1F0CC763F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36776"/>
            <a:ext cx="3815080" cy="2824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La flota: coste concentrado y emisiones altas</a:t>
            </a:r>
            <a:endParaRPr lang="en-US" sz="3400" dirty="0"/>
          </a:p>
        </p:txBody>
      </p:sp>
      <p:sp>
        <p:nvSpPr>
          <p:cNvPr id="5" name="Fuente Power BI"/>
          <p:cNvSpPr txBox="1"/>
          <p:nvPr/>
        </p:nvSpPr>
        <p:spPr>
          <a:xfrm>
            <a:off x="548640" y="43159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Fuente: dashboard Power BI, página 4.</a:t>
            </a:r>
            <a:endParaRPr lang="en-US" sz="1200" dirty="0"/>
          </a:p>
        </p:txBody>
      </p:sp>
      <p:sp>
        <p:nvSpPr>
          <p:cNvPr id="6" name="Tarjeta hallazgo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tiqueta hallazgo"/>
          <p:cNvSpPr txBox="1"/>
          <p:nvPr/>
        </p:nvSpPr>
        <p:spPr>
          <a:xfrm>
            <a:off x="77724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HALLAZGO</a:t>
            </a:r>
            <a:endParaRPr lang="en-US" sz="1200" dirty="0"/>
          </a:p>
        </p:txBody>
      </p:sp>
      <p:sp>
        <p:nvSpPr>
          <p:cNvPr id="8" name="Texto hallazgo"/>
          <p:cNvSpPr txBox="1"/>
          <p:nvPr/>
        </p:nvSpPr>
        <p:spPr>
          <a:xfrm>
            <a:off x="77724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10 vehículos suman el 35 % del mantenimiento. El correctivo medio es 1.442 € en diésel y 1.282 € en eléctrico; la flota emite 87 g/km (meta: 70).</a:t>
            </a:r>
            <a:endParaRPr lang="en-US" sz="1500" dirty="0"/>
          </a:p>
        </p:txBody>
      </p:sp>
      <p:sp>
        <p:nvSpPr>
          <p:cNvPr id="9" name="Tarjeta acción"/>
          <p:cNvSpPr/>
          <p:nvPr/>
        </p:nvSpPr>
        <p:spPr>
          <a:xfrm>
            <a:off x="617220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Etiqueta acción"/>
          <p:cNvSpPr txBox="1"/>
          <p:nvPr/>
        </p:nvSpPr>
        <p:spPr>
          <a:xfrm>
            <a:off x="640080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ACCIÓN</a:t>
            </a:r>
            <a:endParaRPr lang="en-US" sz="1200" dirty="0"/>
          </a:p>
        </p:txBody>
      </p:sp>
      <p:sp>
        <p:nvSpPr>
          <p:cNvPr id="11" name="Texto acción"/>
          <p:cNvSpPr txBox="1"/>
          <p:nvPr/>
        </p:nvSpPr>
        <p:spPr>
          <a:xfrm>
            <a:off x="640080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Renovar primero los 10 vehículos más caros y electrificar por emisiones: bajar a 70 g/km exige pasar cerca del 24 % de los km diésel a eléctrico.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783335A-AC46-6098-CFD8-480F8AC5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67572"/>
            <a:ext cx="4917440" cy="291321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877AA08-289E-7E7C-D1B8-6EF0E25FD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339" y="1219680"/>
            <a:ext cx="4114881" cy="31110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Plan de acción: del hallazgo a la meta</a:t>
            </a:r>
            <a:endParaRPr lang="en-US" sz="3400" dirty="0"/>
          </a:p>
        </p:txBody>
      </p:sp>
      <p:graphicFrame>
        <p:nvGraphicFramePr>
          <p:cNvPr id="8" name="Tabla plan de ac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931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Hallazgo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Acción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KPI en Power BI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Hoy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Retraso en las puntas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Reforzar la frecuencia en mañana y tarde punta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Puntualidad (pág. 1)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75 %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90 %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Coste en Seguridad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 de prevención, empezando por L6, N1 y L7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Coste de incidencias por 1.000 viajes (pág. 3)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95.902 €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80.000 €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Coste y emisiones de flota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Renovar los 10 vehículos más caros y electrificar por emisiones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Emisiones CO₂/km (pág. 4)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87 g/km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70 g/km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Paradas sin accesibilidad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Adaptar las 4 paradas no accesibles con salidas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Salidas en paradas accesibles (pág. 5)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90 %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100 %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Nota metas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Metas de 90 %, 80.000 € y 70 g/km: las del dashboard. La de accesibilidad (100 %) es una propuesta.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Límites y próximos pasos</a:t>
            </a:r>
            <a:endParaRPr lang="en-US" sz="3600" dirty="0"/>
          </a:p>
        </p:txBody>
      </p:sp>
      <p:sp>
        <p:nvSpPr>
          <p:cNvPr id="3" name="Cabecera límites"/>
          <p:cNvSpPr txBox="1"/>
          <p:nvPr/>
        </p:nvSpPr>
        <p:spPr>
          <a:xfrm>
            <a:off x="640080" y="1417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Lo que no puedo afirmar</a:t>
            </a:r>
            <a:endParaRPr lang="en-US" sz="2000" dirty="0"/>
          </a:p>
        </p:txBody>
      </p:sp>
      <p:sp>
        <p:nvSpPr>
          <p:cNvPr id="4" name="Cabecera próximos pasos"/>
          <p:cNvSpPr txBox="1"/>
          <p:nvPr/>
        </p:nvSpPr>
        <p:spPr>
          <a:xfrm>
            <a:off x="6309360" y="1417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Qué haría después</a:t>
            </a:r>
            <a:endParaRPr lang="en-US" sz="2000" dirty="0"/>
          </a:p>
        </p:txBody>
      </p:sp>
      <p:sp>
        <p:nvSpPr>
          <p:cNvPr id="5" name="Límite 1"/>
          <p:cNvSpPr/>
          <p:nvPr/>
        </p:nvSpPr>
        <p:spPr>
          <a:xfrm>
            <a:off x="640080" y="196596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6" name="Límite 1 texto"/>
          <p:cNvSpPr txBox="1"/>
          <p:nvPr/>
        </p:nvSpPr>
        <p:spPr>
          <a:xfrm>
            <a:off x="868680" y="19659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Por qué se retrasa el servicio en punta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Falta: tráfico, clima y causa de cada retraso</a:t>
            </a:r>
            <a:endParaRPr lang="en-US" sz="1600" dirty="0"/>
          </a:p>
        </p:txBody>
      </p:sp>
      <p:sp>
        <p:nvSpPr>
          <p:cNvPr id="7" name="Paso 1"/>
          <p:cNvSpPr/>
          <p:nvPr/>
        </p:nvSpPr>
        <p:spPr>
          <a:xfrm>
            <a:off x="6309360" y="196596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Paso 1 círculo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Paso 1 número"/>
          <p:cNvSpPr txBox="1"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Paso 1 texto"/>
          <p:cNvSpPr txBox="1"/>
          <p:nvPr/>
        </p:nvSpPr>
        <p:spPr>
          <a:xfrm>
            <a:off x="7223760" y="1965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Explicar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Cruzar los retrasos con tráfico y clima</a:t>
            </a:r>
            <a:endParaRPr lang="en-US" sz="1600" dirty="0"/>
          </a:p>
        </p:txBody>
      </p:sp>
      <p:sp>
        <p:nvSpPr>
          <p:cNvPr id="11" name="Límite 2"/>
          <p:cNvSpPr/>
          <p:nvPr/>
        </p:nvSpPr>
        <p:spPr>
          <a:xfrm>
            <a:off x="640080" y="292608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2" name="Límite 2 texto"/>
          <p:cNvSpPr txBox="1"/>
          <p:nvPr/>
        </p:nvSpPr>
        <p:spPr>
          <a:xfrm>
            <a:off x="868680" y="2926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Cuánto cuesta realmente una incidencia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Falta: costes facturados (hoy son estimados)</a:t>
            </a:r>
            <a:endParaRPr lang="en-US" sz="1600" dirty="0"/>
          </a:p>
        </p:txBody>
      </p:sp>
      <p:sp>
        <p:nvSpPr>
          <p:cNvPr id="13" name="Paso 2"/>
          <p:cNvSpPr/>
          <p:nvPr/>
        </p:nvSpPr>
        <p:spPr>
          <a:xfrm>
            <a:off x="6309360" y="292608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4" name="Paso 2 círculo"/>
          <p:cNvSpPr/>
          <p:nvPr/>
        </p:nvSpPr>
        <p:spPr>
          <a:xfrm>
            <a:off x="6492240" y="3108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Paso 2 número"/>
          <p:cNvSpPr txBox="1"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Paso 2 texto"/>
          <p:cNvSpPr txBox="1"/>
          <p:nvPr/>
        </p:nvSpPr>
        <p:spPr>
          <a:xfrm>
            <a:off x="7223760" y="2926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Predecir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Modelo de retraso en las puntas</a:t>
            </a:r>
            <a:endParaRPr lang="en-US" sz="1600" dirty="0"/>
          </a:p>
        </p:txBody>
      </p:sp>
      <p:sp>
        <p:nvSpPr>
          <p:cNvPr id="17" name="Límite 3"/>
          <p:cNvSpPr/>
          <p:nvPr/>
        </p:nvSpPr>
        <p:spPr>
          <a:xfrm>
            <a:off x="640080" y="388620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8" name="Límite 3 texto"/>
          <p:cNvSpPr txBox="1"/>
          <p:nvPr/>
        </p:nvSpPr>
        <p:spPr>
          <a:xfrm>
            <a:off x="868680" y="3886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 electrificar ahorre dinero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Falta: precio de compra y coste de energía</a:t>
            </a:r>
            <a:endParaRPr lang="en-US" sz="1600" dirty="0"/>
          </a:p>
        </p:txBody>
      </p:sp>
      <p:sp>
        <p:nvSpPr>
          <p:cNvPr id="19" name="Paso 3"/>
          <p:cNvSpPr/>
          <p:nvPr/>
        </p:nvSpPr>
        <p:spPr>
          <a:xfrm>
            <a:off x="6309360" y="388620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0" name="Paso 3 círculo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aso 3 número"/>
          <p:cNvSpPr txBox="1"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Paso 3 texto"/>
          <p:cNvSpPr txBox="1"/>
          <p:nvPr/>
        </p:nvSpPr>
        <p:spPr>
          <a:xfrm>
            <a:off x="7223760" y="3886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Automatizar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Dashboard con actualización diaria y alertas</a:t>
            </a:r>
            <a:endParaRPr lang="en-US" sz="1600" dirty="0"/>
          </a:p>
        </p:txBody>
      </p:sp>
      <p:sp>
        <p:nvSpPr>
          <p:cNvPr id="23" name="Límite 4"/>
          <p:cNvSpPr/>
          <p:nvPr/>
        </p:nvSpPr>
        <p:spPr>
          <a:xfrm>
            <a:off x="640080" y="484632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4" name="Límite 4 texto"/>
          <p:cNvSpPr txBox="1"/>
          <p:nvPr/>
        </p:nvSpPr>
        <p:spPr>
          <a:xfrm>
            <a:off x="86868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 el servicio cubre la demanda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Falta: viajeros no atendidos y encuestas</a:t>
            </a:r>
            <a:endParaRPr lang="en-US" sz="1600" dirty="0"/>
          </a:p>
        </p:txBody>
      </p:sp>
      <p:sp>
        <p:nvSpPr>
          <p:cNvPr id="25" name="Paso 4"/>
          <p:cNvSpPr/>
          <p:nvPr/>
        </p:nvSpPr>
        <p:spPr>
          <a:xfrm>
            <a:off x="6309360" y="4846320"/>
            <a:ext cx="52120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6" name="Paso 4 círculo"/>
          <p:cNvSpPr/>
          <p:nvPr/>
        </p:nvSpPr>
        <p:spPr>
          <a:xfrm>
            <a:off x="6492240" y="5029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Paso 4 número"/>
          <p:cNvSpPr txBox="1"/>
          <p:nvPr/>
        </p:nvSpPr>
        <p:spPr>
          <a:xfrm>
            <a:off x="6492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Paso 4 texto"/>
          <p:cNvSpPr txBox="1"/>
          <p:nvPr/>
        </p:nvSpPr>
        <p:spPr>
          <a:xfrm>
            <a:off x="7223760" y="48463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Piloto de refuerzo en una línea y comparación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Bus">
  <a:themeElements>
    <a:clrScheme name="MetroBus">
      <a:dk1>
        <a:srgbClr val="1A2B34"/>
      </a:dk1>
      <a:lt1>
        <a:srgbClr val="FFFFFF"/>
      </a:lt1>
      <a:dk2>
        <a:srgbClr val="0F4C5C"/>
      </a:dk2>
      <a:lt2>
        <a:srgbClr val="EEF3F3"/>
      </a:lt2>
      <a:accent1>
        <a:srgbClr val="0F4C5C"/>
      </a:accent1>
      <a:accent2>
        <a:srgbClr val="F2A541"/>
      </a:accent2>
      <a:accent3>
        <a:srgbClr val="C8553D"/>
      </a:accent3>
      <a:accent4>
        <a:srgbClr val="5B8E7D"/>
      </a:accent4>
      <a:accent5>
        <a:srgbClr val="8FB8C4"/>
      </a:accent5>
      <a:accent6>
        <a:srgbClr val="7A8B93"/>
      </a:accent6>
      <a:hlink>
        <a:srgbClr val="0F4C5C"/>
      </a:hlink>
      <a:folHlink>
        <a:srgbClr val="7A8B93"/>
      </a:folHlink>
    </a:clrScheme>
    <a:fontScheme name="MetroB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7355</TotalTime>
  <Words>1407</Words>
  <Application>Microsoft Office PowerPoint</Application>
  <PresentationFormat>Panorámica</PresentationFormat>
  <Paragraphs>162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MetroBus</vt:lpstr>
      <vt:lpstr>MetroBus</vt:lpstr>
      <vt:lpstr>Información de viajes de 2022 a 2024</vt:lpstr>
      <vt:lpstr>Proceso de los datos</vt:lpstr>
      <vt:lpstr>Las horas punta concentran el retraso</vt:lpstr>
      <vt:lpstr>El coste de incidencias vive en Seguridad</vt:lpstr>
      <vt:lpstr>La flota: coste concentrado y emisiones altas</vt:lpstr>
      <vt:lpstr>Plan de acción: del hallazgo a la meta</vt:lpstr>
      <vt:lpstr>Límites y próximos pasos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MetroBus Analytics - Presentación final</dc:title>
  <dc:subject>PptxGenJS Presentation</dc:subject>
  <dc:creator>Luisa Fernanda Rincón Durán</dc:creator>
  <cp:lastModifiedBy>Luisa Fernanda Rincón Durán</cp:lastModifiedBy>
  <cp:revision>8</cp:revision>
  <dcterms:created xsi:type="dcterms:W3CDTF">2026-10-09T19:23:25Z</dcterms:created>
  <dcterms:modified xsi:type="dcterms:W3CDTF">2026-10-15T21:35:20Z</dcterms:modified>
</cp:coreProperties>
</file>